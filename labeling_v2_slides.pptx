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複数の軸でラベリングする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0" y="2011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同じ論文を、見たい角度で多面的に分類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91840" y="12801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0" y="1280160"/>
            <a:ext cx="2606040" cy="7315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3401568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論文 / 特許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01568" y="16459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ラック型空調機の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風量制御に関する研究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25603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298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軸①  技術領域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709928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1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099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空調制御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69848" y="1709928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1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69848" y="17099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気流管理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55648" y="1709928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1755648" y="170992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差圧制御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どの技術に関する論文か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2344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234440"/>
            <a:ext cx="25603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1298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軸②  技術成熟度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19088" y="1709928"/>
            <a:ext cx="726948" cy="237744"/>
          </a:xfrm>
          <a:prstGeom prst="roundRect">
            <a:avLst>
              <a:gd name="adj" fmla="val 23077"/>
            </a:avLst>
          </a:prstGeom>
          <a:solidFill>
            <a:srgbClr val="EEED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19088" y="1709928"/>
            <a:ext cx="72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実用化段階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10044" y="1709928"/>
            <a:ext cx="937260" cy="237744"/>
          </a:xfrm>
          <a:prstGeom prst="roundRect">
            <a:avLst>
              <a:gd name="adj" fmla="val 23077"/>
            </a:avLst>
          </a:prstGeom>
          <a:solidFill>
            <a:srgbClr val="EEEDFE"/>
          </a:solidFill>
          <a:ln/>
        </p:spPr>
      </p:sp>
      <p:sp>
        <p:nvSpPr>
          <p:cNvPr id="25" name="Text 23"/>
          <p:cNvSpPr/>
          <p:nvPr/>
        </p:nvSpPr>
        <p:spPr>
          <a:xfrm>
            <a:off x="7210044" y="1709928"/>
            <a:ext cx="93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フィールド実証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19088" y="23317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研究段階 or 実用段階か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26080"/>
            <a:ext cx="25603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2990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軸③  適用場所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" y="3401568"/>
            <a:ext cx="937260" cy="237744"/>
          </a:xfrm>
          <a:prstGeom prst="roundRect">
            <a:avLst>
              <a:gd name="adj" fmla="val 23077"/>
            </a:avLst>
          </a:prstGeom>
          <a:solidFill>
            <a:srgbClr val="FAEED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401568"/>
            <a:ext cx="937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データセンター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385316" y="3401568"/>
            <a:ext cx="726948" cy="237744"/>
          </a:xfrm>
          <a:prstGeom prst="roundRect">
            <a:avLst>
              <a:gd name="adj" fmla="val 23077"/>
            </a:avLst>
          </a:prstGeom>
          <a:solidFill>
            <a:srgbClr val="FAEEDA"/>
          </a:solidFill>
          <a:ln/>
        </p:spPr>
      </p:sp>
      <p:sp>
        <p:nvSpPr>
          <p:cNvPr id="33" name="Text 31"/>
          <p:cNvSpPr/>
          <p:nvPr/>
        </p:nvSpPr>
        <p:spPr>
          <a:xfrm>
            <a:off x="1385316" y="3401568"/>
            <a:ext cx="72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どのシーンで使える技術か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29260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2926080"/>
            <a:ext cx="256032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6419088" y="2990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軸④  アプローチ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19088" y="3401568"/>
            <a:ext cx="516636" cy="237744"/>
          </a:xfrm>
          <a:prstGeom prst="roundRect">
            <a:avLst>
              <a:gd name="adj" fmla="val 23077"/>
            </a:avLst>
          </a:prstGeom>
          <a:solidFill>
            <a:srgbClr val="ECFDF5"/>
          </a:solidFill>
          <a:ln/>
        </p:spPr>
      </p:sp>
      <p:sp>
        <p:nvSpPr>
          <p:cNvPr id="39" name="Text 37"/>
          <p:cNvSpPr/>
          <p:nvPr/>
        </p:nvSpPr>
        <p:spPr>
          <a:xfrm>
            <a:off x="6419088" y="3401568"/>
            <a:ext cx="5166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9732" y="3401568"/>
            <a:ext cx="726948" cy="237744"/>
          </a:xfrm>
          <a:prstGeom prst="roundRect">
            <a:avLst>
              <a:gd name="adj" fmla="val 23077"/>
            </a:avLst>
          </a:prstGeom>
          <a:solidFill>
            <a:srgbClr val="ECFDF5"/>
          </a:solidFill>
          <a:ln/>
        </p:spPr>
      </p:sp>
      <p:sp>
        <p:nvSpPr>
          <p:cNvPr id="41" name="Text 39"/>
          <p:cNvSpPr/>
          <p:nvPr/>
        </p:nvSpPr>
        <p:spPr>
          <a:xfrm>
            <a:off x="6999732" y="3401568"/>
            <a:ext cx="7269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測定・実測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90688" y="3401568"/>
            <a:ext cx="516636" cy="237744"/>
          </a:xfrm>
          <a:prstGeom prst="roundRect">
            <a:avLst>
              <a:gd name="adj" fmla="val 23077"/>
            </a:avLst>
          </a:prstGeom>
          <a:solidFill>
            <a:srgbClr val="ECFDF5"/>
          </a:solidFill>
          <a:ln/>
        </p:spPr>
      </p:sp>
      <p:sp>
        <p:nvSpPr>
          <p:cNvPr id="43" name="Text 41"/>
          <p:cNvSpPr/>
          <p:nvPr/>
        </p:nvSpPr>
        <p:spPr>
          <a:xfrm>
            <a:off x="7790688" y="3401568"/>
            <a:ext cx="5166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最適化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19088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何を目的とした研究か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91840" y="1783080"/>
            <a:ext cx="-45720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97880" y="1783080"/>
            <a:ext cx="4114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2103120"/>
            <a:ext cx="-457200" cy="59436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2103120"/>
            <a:ext cx="411480" cy="59436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4462272"/>
            <a:ext cx="8595360" cy="43891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50" name="Text 48"/>
          <p:cNvSpPr/>
          <p:nvPr/>
        </p:nvSpPr>
        <p:spPr>
          <a:xfrm>
            <a:off x="411480" y="44988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軸の定義はヒアリングで決める。「どんな切り口で論文・特許を探したいか」がそのまま軸になります。後から軸を追加・変更することも可能。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Excel出力イメージ（複数軸対応）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0" y="20116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1論文 = 1行。複数軸のタグが列で並ぶ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69164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6" name="Text 4"/>
          <p:cNvSpPr/>
          <p:nvPr/>
        </p:nvSpPr>
        <p:spPr>
          <a:xfrm>
            <a:off x="310896" y="932688"/>
            <a:ext cx="161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論文・特許名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65960" y="914400"/>
            <a:ext cx="1005840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2002536" y="93268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軸①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技術領域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914400"/>
            <a:ext cx="1005840" cy="47548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10" name="Text 8"/>
          <p:cNvSpPr/>
          <p:nvPr/>
        </p:nvSpPr>
        <p:spPr>
          <a:xfrm>
            <a:off x="3008376" y="93268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軸②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成熟度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977640" y="914400"/>
            <a:ext cx="1005840" cy="475488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12" name="Text 10"/>
          <p:cNvSpPr/>
          <p:nvPr/>
        </p:nvSpPr>
        <p:spPr>
          <a:xfrm>
            <a:off x="4014216" y="93268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軸③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83480" y="914400"/>
            <a:ext cx="1005840" cy="475488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0056" y="932688"/>
            <a:ext cx="932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軸④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アプローチ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822960" cy="4754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896" y="932688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類似度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914400"/>
            <a:ext cx="128016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93268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分類カテゴリ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92440" y="914400"/>
            <a:ext cx="1143000" cy="47548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0" name="Text 18"/>
          <p:cNvSpPr/>
          <p:nvPr/>
        </p:nvSpPr>
        <p:spPr>
          <a:xfrm>
            <a:off x="8129016" y="932688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AI要約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389888"/>
            <a:ext cx="8961120" cy="292608"/>
          </a:xfrm>
          <a:prstGeom prst="rect">
            <a:avLst/>
          </a:prstGeom>
          <a:solidFill>
            <a:srgbClr val="D1FAE5"/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4264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フィルター行  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29968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「空調制御」で絞り込み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0" y="1426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「データセンター」で絞り込み →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682496"/>
            <a:ext cx="8961120" cy="59436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719072"/>
            <a:ext cx="1600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2013.3_189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ラック型空調機の風量制御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965960" y="1682496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171907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空調制御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気流管理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971800" y="1682496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171907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実用化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77640" y="1682496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171907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1682496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1719072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1682496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1719072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12280" y="1682496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1719072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F:電力・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エネルギー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92440" y="1682496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1719072"/>
            <a:ext cx="1051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差圧実測に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よる風量最適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1682496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2304288"/>
            <a:ext cx="8961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340864"/>
            <a:ext cx="1600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2022_72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Bus蓄電池制御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965960" y="2304288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11680" y="2340864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電力制御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DC系統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971800" y="2304288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2340864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実証段階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977640" y="2304288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2340864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83480" y="2304288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2340864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89320" y="2304288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0" y="2340864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12280" y="2304288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0" y="2340864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F:電力・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エネルギー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092440" y="2304288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38160" y="2340864"/>
            <a:ext cx="1051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SoC自己収束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特性の解析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74320" y="2926080"/>
            <a:ext cx="89611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2962656"/>
            <a:ext cx="1600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2013.3_273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外気冷房型空調機の開発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965960" y="2926080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11680" y="2962656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外気冷房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省エネ空調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971800" y="2926080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017520" y="2962656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開発段階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977640" y="2926080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0" y="2962656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983480" y="2926080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2962656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システム開発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989320" y="2926080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35040" y="2962656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812280" y="2926080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2962656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F:電力・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エネルギー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92440" y="2926080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38160" y="2962656"/>
            <a:ext cx="1051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ポンプサイクル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の性能特性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3547872"/>
            <a:ext cx="89611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3584448"/>
            <a:ext cx="1600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2013.3_241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冷水空調の電力削減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965960" y="3547872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11680" y="3584448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冷水空調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電力制御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971800" y="3547872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017520" y="3584448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実証段階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977640" y="3547872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023360" y="3584448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983480" y="3547872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29200" y="3584448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測定・検証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5989320" y="3547872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35040" y="3584448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812280" y="3547872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58000" y="3584448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F:電力・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エネルギー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092440" y="3547872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38160" y="3584448"/>
            <a:ext cx="1051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消費電力削減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のシミュ検証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74320" y="4169664"/>
            <a:ext cx="896112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4206240"/>
            <a:ext cx="1600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2009_436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アイルキャッピング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965960" y="4169664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011680" y="4206240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気流制御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冷却設計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971800" y="4169664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17520" y="4206240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実用化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3977640" y="4169664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023360" y="4206240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983480" y="4169664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5029200" y="4206240"/>
            <a:ext cx="914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省エネ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気流最適化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989320" y="4169664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35040" y="4206240"/>
            <a:ext cx="7315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812280" y="4169664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858000" y="4206240"/>
            <a:ext cx="11887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F:電力・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エネルギー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8092440" y="4169664"/>
            <a:ext cx="0" cy="5943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38160" y="4206240"/>
            <a:ext cx="1051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コールドアイル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温度管理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07" name="Text 105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各列は独立してフィルター可能。「軸①：空調制御」+「軸③：データセンター」で絞ると対象論文が即座に抽出できます。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技術ポジショニングマップ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0" y="201168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 vs 競合の立ち位置を可視化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66928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2834640" cy="2034540"/>
          </a:xfrm>
          <a:prstGeom prst="rect">
            <a:avLst/>
          </a:prstGeom>
          <a:solidFill>
            <a:srgbClr val="F0FD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0" y="914400"/>
            <a:ext cx="2834640" cy="2034540"/>
          </a:xfrm>
          <a:prstGeom prst="rect">
            <a:avLst/>
          </a:prstGeom>
          <a:solidFill>
            <a:srgbClr val="EFF6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48940"/>
            <a:ext cx="2834640" cy="2034540"/>
          </a:xfrm>
          <a:prstGeom prst="rect">
            <a:avLst/>
          </a:prstGeom>
          <a:solidFill>
            <a:srgbClr val="FAFAF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2948940"/>
            <a:ext cx="2834640" cy="2034540"/>
          </a:xfrm>
          <a:prstGeom prst="rect">
            <a:avLst/>
          </a:prstGeom>
          <a:solidFill>
            <a:srgbClr val="FFFBEB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冷却・空調技術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01568" y="9875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電力・省エネ技術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0220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センサー・計測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01568" y="30220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複合・応用技術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914400"/>
            <a:ext cx="0" cy="406908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48940"/>
            <a:ext cx="566928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4630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307592" y="1463040"/>
            <a:ext cx="100584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冷却制御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07592" y="1654150"/>
            <a:ext cx="548640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31920" y="141732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288536" y="1417320"/>
            <a:ext cx="1005840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電力最適化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88536" y="1588313"/>
            <a:ext cx="548640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80560" y="178308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7830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外気冷房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00600" y="1933956"/>
            <a:ext cx="54864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4件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7240" y="3497580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" y="3497580"/>
            <a:ext cx="1005840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センサー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60704" y="3628339"/>
            <a:ext cx="548640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3件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66160" y="24917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3977640" y="2766060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9120" y="331470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6289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競合A社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64992" y="3771900"/>
            <a:ext cx="2697480" cy="1074420"/>
          </a:xfrm>
          <a:prstGeom prst="roundRect">
            <a:avLst>
              <a:gd name="adj" fmla="val 8511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1376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空白領域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794760" y="44577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攻めどころ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83280" y="5047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省エネ・電力系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5047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冷却・空調系 →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" y="504748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5038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71600" y="504748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1581912" y="50383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309360" y="914400"/>
            <a:ext cx="2514600" cy="4069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914400"/>
            <a:ext cx="2514600" cy="384048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969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このマップでわかること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46520" y="1389888"/>
            <a:ext cx="2240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14447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693408" y="14356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自社の強み領域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693408" y="170078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冷却・省エネ系に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技術が集中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46520" y="2276856"/>
            <a:ext cx="2240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233172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693408" y="23225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競合との重複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93408" y="2587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電力系で競合と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近い領域あり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46520" y="3163824"/>
            <a:ext cx="2240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92240" y="3218688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693408" y="3209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空白領域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93408" y="3474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複合応用エリアは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誰も取っていない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46520" y="4050792"/>
            <a:ext cx="224028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92240" y="4105656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693408" y="4096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活用例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93408" y="43616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新規出願・研究テーマの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意思決定に使える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2026-04-07T10:08:36Z</dcterms:created>
  <dcterms:modified xsi:type="dcterms:W3CDTF">2026-04-07T10:08:36Z</dcterms:modified>
</cp:coreProperties>
</file>